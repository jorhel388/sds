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65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6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79" r:id="rId31"/>
    <p:sldId id="288" r:id="rId32"/>
    <p:sldId id="289" r:id="rId33"/>
    <p:sldId id="290" r:id="rId34"/>
    <p:sldId id="28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7A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33" autoAdjust="0"/>
    <p:restoredTop sz="95441" autoAdjust="0"/>
  </p:normalViewPr>
  <p:slideViewPr>
    <p:cSldViewPr snapToGrid="0">
      <p:cViewPr varScale="1">
        <p:scale>
          <a:sx n="95" d="100"/>
          <a:sy n="95" d="100"/>
        </p:scale>
        <p:origin x="1326" y="108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0450F-3D15-4369-8ADA-777D057F8B87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3D558-8BAE-46C5-A18B-70B8CB609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92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93D558-8BAE-46C5-A18B-70B8CB60934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05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93D558-8BAE-46C5-A18B-70B8CB60934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76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81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08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62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9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0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7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73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17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02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59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27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E51F5-CAE0-439D-B4FD-6CC10F525FD8}" type="datetimeFigureOut">
              <a:rPr lang="en-GB" smtClean="0"/>
              <a:t>01/11/2017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257FF-D3D8-416E-B673-94B7A64786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7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008094" y="5101866"/>
            <a:ext cx="3298191" cy="575105"/>
            <a:chOff x="1008094" y="5101866"/>
            <a:chExt cx="3298191" cy="57510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94" y="5524571"/>
              <a:ext cx="32099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32"/>
            <p:cNvSpPr>
              <a:spLocks noChangeArrowheads="1"/>
            </p:cNvSpPr>
            <p:nvPr/>
          </p:nvSpPr>
          <p:spPr bwMode="auto">
            <a:xfrm>
              <a:off x="2973822" y="5101866"/>
              <a:ext cx="1332463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Escape character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3164024" y="5361814"/>
              <a:ext cx="0" cy="202027"/>
            </a:xfrm>
            <a:prstGeom prst="straightConnector1">
              <a:avLst/>
            </a:prstGeom>
            <a:ln w="19050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3640053" y="5322544"/>
              <a:ext cx="213182" cy="241297"/>
            </a:xfrm>
            <a:prstGeom prst="straightConnector1">
              <a:avLst/>
            </a:prstGeom>
            <a:ln w="19050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906723" y="0"/>
            <a:ext cx="5744377" cy="4820323"/>
            <a:chOff x="1852654" y="254735"/>
            <a:chExt cx="5744377" cy="482032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2654" y="254735"/>
              <a:ext cx="5744377" cy="4820323"/>
            </a:xfrm>
            <a:prstGeom prst="rect">
              <a:avLst/>
            </a:prstGeom>
          </p:spPr>
        </p:pic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6415405" y="254735"/>
              <a:ext cx="7599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Toolbar</a:t>
              </a:r>
            </a:p>
          </p:txBody>
        </p:sp>
        <p:sp>
          <p:nvSpPr>
            <p:cNvPr id="11" name="AutoShape 32"/>
            <p:cNvSpPr>
              <a:spLocks noChangeArrowheads="1"/>
            </p:cNvSpPr>
            <p:nvPr/>
          </p:nvSpPr>
          <p:spPr bwMode="auto">
            <a:xfrm>
              <a:off x="6129136" y="3291631"/>
              <a:ext cx="1332463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Search window</a:t>
              </a:r>
            </a:p>
          </p:txBody>
        </p:sp>
        <p:sp>
          <p:nvSpPr>
            <p:cNvPr id="12" name="AutoShape 32"/>
            <p:cNvSpPr>
              <a:spLocks noChangeArrowheads="1"/>
            </p:cNvSpPr>
            <p:nvPr/>
          </p:nvSpPr>
          <p:spPr bwMode="auto">
            <a:xfrm>
              <a:off x="6129136" y="2447158"/>
              <a:ext cx="1332463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Script editor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70925" y="5263841"/>
            <a:ext cx="4790476" cy="608392"/>
            <a:chOff x="5070925" y="5263841"/>
            <a:chExt cx="4790476" cy="608392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0925" y="5263841"/>
              <a:ext cx="4790476" cy="60000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7031831" y="5613987"/>
              <a:ext cx="1183907" cy="258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utoShape 32"/>
            <p:cNvSpPr>
              <a:spLocks noChangeArrowheads="1"/>
            </p:cNvSpPr>
            <p:nvPr/>
          </p:nvSpPr>
          <p:spPr bwMode="auto">
            <a:xfrm>
              <a:off x="7117556" y="5563841"/>
              <a:ext cx="816769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532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9700" y="0"/>
            <a:ext cx="5010150" cy="1590675"/>
            <a:chOff x="2066925" y="2633663"/>
            <a:chExt cx="5010150" cy="15906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925" y="2633663"/>
              <a:ext cx="5010150" cy="159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5193200" y="2895600"/>
              <a:ext cx="1312375" cy="41666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Function Parameters table</a:t>
              </a:r>
            </a:p>
          </p:txBody>
        </p: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2140437" y="3807560"/>
              <a:ext cx="1355238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Input parameters</a:t>
              </a:r>
            </a:p>
          </p:txBody>
        </p:sp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3659675" y="3807560"/>
              <a:ext cx="1455250" cy="40595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Right click to add/ delete parameters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4280709" y="3590925"/>
              <a:ext cx="0" cy="216635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2794304" y="3000375"/>
              <a:ext cx="163270" cy="0"/>
            </a:xfrm>
            <a:prstGeom prst="line">
              <a:avLst/>
            </a:prstGeom>
            <a:ln w="22225">
              <a:solidFill>
                <a:srgbClr val="3D87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2794304" y="3335887"/>
              <a:ext cx="163270" cy="0"/>
            </a:xfrm>
            <a:prstGeom prst="line">
              <a:avLst/>
            </a:prstGeom>
            <a:ln w="22225">
              <a:solidFill>
                <a:srgbClr val="3D87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788366" y="2985567"/>
              <a:ext cx="0" cy="360000"/>
            </a:xfrm>
            <a:prstGeom prst="line">
              <a:avLst/>
            </a:prstGeom>
            <a:ln w="22225">
              <a:solidFill>
                <a:srgbClr val="3D87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57634" y="3351735"/>
              <a:ext cx="0" cy="455825"/>
            </a:xfrm>
            <a:prstGeom prst="line">
              <a:avLst/>
            </a:prstGeom>
            <a:ln w="22225">
              <a:solidFill>
                <a:srgbClr val="3D87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2414857" y="2862333"/>
            <a:ext cx="4314286" cy="1133333"/>
            <a:chOff x="2414857" y="2862333"/>
            <a:chExt cx="4314286" cy="113333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4857" y="2862333"/>
              <a:ext cx="4314286" cy="1133333"/>
            </a:xfrm>
            <a:prstGeom prst="rect">
              <a:avLst/>
            </a:prstGeom>
          </p:spPr>
        </p:pic>
        <p:sp>
          <p:nvSpPr>
            <p:cNvPr id="13" name="AutoShape 32"/>
            <p:cNvSpPr>
              <a:spLocks noChangeArrowheads="1"/>
            </p:cNvSpPr>
            <p:nvPr/>
          </p:nvSpPr>
          <p:spPr bwMode="auto">
            <a:xfrm>
              <a:off x="5369720" y="3719513"/>
              <a:ext cx="704850" cy="271391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Space</a:t>
              </a:r>
            </a:p>
          </p:txBody>
        </p:sp>
        <p:sp>
          <p:nvSpPr>
            <p:cNvPr id="16" name="AutoShape 32"/>
            <p:cNvSpPr>
              <a:spLocks noChangeArrowheads="1"/>
            </p:cNvSpPr>
            <p:nvPr/>
          </p:nvSpPr>
          <p:spPr bwMode="auto">
            <a:xfrm>
              <a:off x="5107782" y="2862333"/>
              <a:ext cx="781050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94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43050" y="685800"/>
            <a:ext cx="5372100" cy="1233488"/>
            <a:chOff x="1543050" y="685800"/>
            <a:chExt cx="5372100" cy="1233488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3050" y="685800"/>
              <a:ext cx="5372100" cy="876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5096911" y="1653730"/>
              <a:ext cx="1599164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Click for more options</a:t>
              </a:r>
            </a:p>
          </p:txBody>
        </p:sp>
        <p:cxnSp>
          <p:nvCxnSpPr>
            <p:cNvPr id="7" name="Straight Arrow Connector 6"/>
            <p:cNvCxnSpPr>
              <a:stCxn id="5" idx="0"/>
            </p:cNvCxnSpPr>
            <p:nvPr/>
          </p:nvCxnSpPr>
          <p:spPr>
            <a:xfrm flipV="1">
              <a:off x="5896493" y="1495426"/>
              <a:ext cx="0" cy="158304"/>
            </a:xfrm>
            <a:prstGeom prst="straightConnector1">
              <a:avLst/>
            </a:prstGeom>
            <a:ln w="19050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1543050" y="2128838"/>
            <a:ext cx="4752975" cy="778572"/>
            <a:chOff x="1543050" y="2128838"/>
            <a:chExt cx="4752975" cy="778572"/>
          </a:xfrm>
        </p:grpSpPr>
        <p:sp>
          <p:nvSpPr>
            <p:cNvPr id="10" name="AutoShape 32"/>
            <p:cNvSpPr>
              <a:spLocks noChangeArrowheads="1"/>
            </p:cNvSpPr>
            <p:nvPr/>
          </p:nvSpPr>
          <p:spPr bwMode="auto">
            <a:xfrm>
              <a:off x="2829443" y="2641852"/>
              <a:ext cx="1522964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Highlighted results</a:t>
              </a:r>
            </a:p>
          </p:txBody>
        </p:sp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3050" y="2128838"/>
              <a:ext cx="47529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" name="Straight Arrow Connector 14"/>
            <p:cNvCxnSpPr>
              <a:stCxn id="10" idx="0"/>
            </p:cNvCxnSpPr>
            <p:nvPr/>
          </p:nvCxnSpPr>
          <p:spPr>
            <a:xfrm flipV="1">
              <a:off x="3590925" y="2314575"/>
              <a:ext cx="762000" cy="327277"/>
            </a:xfrm>
            <a:prstGeom prst="straightConnector1">
              <a:avLst/>
            </a:prstGeom>
            <a:ln w="19050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 flipV="1">
              <a:off x="1715018" y="2478213"/>
              <a:ext cx="1399657" cy="163639"/>
            </a:xfrm>
            <a:prstGeom prst="straightConnector1">
              <a:avLst/>
            </a:prstGeom>
            <a:ln w="19050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5260909" y="2818829"/>
            <a:ext cx="3209407" cy="1000125"/>
            <a:chOff x="5260909" y="2818829"/>
            <a:chExt cx="3209407" cy="1000125"/>
          </a:xfrm>
        </p:grpSpPr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8966" y="2818829"/>
              <a:ext cx="3181350" cy="1000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AutoShape 32"/>
            <p:cNvSpPr>
              <a:spLocks noChangeArrowheads="1"/>
            </p:cNvSpPr>
            <p:nvPr/>
          </p:nvSpPr>
          <p:spPr bwMode="auto">
            <a:xfrm>
              <a:off x="5260909" y="2862834"/>
              <a:ext cx="168540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Characteristic Chooser</a:t>
              </a:r>
            </a:p>
          </p:txBody>
        </p:sp>
        <p:sp>
          <p:nvSpPr>
            <p:cNvPr id="21" name="AutoShape 32"/>
            <p:cNvSpPr>
              <a:spLocks noChangeArrowheads="1"/>
            </p:cNvSpPr>
            <p:nvPr/>
          </p:nvSpPr>
          <p:spPr bwMode="auto">
            <a:xfrm>
              <a:off x="7310859" y="3002698"/>
              <a:ext cx="108377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Script editor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62271" y="4240338"/>
            <a:ext cx="5717948" cy="2209839"/>
            <a:chOff x="862271" y="4240338"/>
            <a:chExt cx="5717948" cy="2209839"/>
          </a:xfrm>
        </p:grpSpPr>
        <p:pic>
          <p:nvPicPr>
            <p:cNvPr id="3086" name="Picture 1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271" y="5165444"/>
              <a:ext cx="3105150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5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4538662"/>
              <a:ext cx="1790700" cy="153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AutoShape 32"/>
            <p:cNvSpPr>
              <a:spLocks noChangeArrowheads="1"/>
            </p:cNvSpPr>
            <p:nvPr/>
          </p:nvSpPr>
          <p:spPr bwMode="auto">
            <a:xfrm>
              <a:off x="1368133" y="4852261"/>
              <a:ext cx="168540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Function Parameters</a:t>
              </a:r>
            </a:p>
          </p:txBody>
        </p:sp>
        <p:sp>
          <p:nvSpPr>
            <p:cNvPr id="24" name="AutoShape 32"/>
            <p:cNvSpPr>
              <a:spLocks noChangeArrowheads="1"/>
            </p:cNvSpPr>
            <p:nvPr/>
          </p:nvSpPr>
          <p:spPr bwMode="auto">
            <a:xfrm>
              <a:off x="4894812" y="4240338"/>
              <a:ext cx="168540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Characteristic Chooser</a:t>
              </a:r>
            </a:p>
          </p:txBody>
        </p:sp>
        <p:sp>
          <p:nvSpPr>
            <p:cNvPr id="25" name="AutoShape 32"/>
            <p:cNvSpPr>
              <a:spLocks noChangeArrowheads="1"/>
            </p:cNvSpPr>
            <p:nvPr/>
          </p:nvSpPr>
          <p:spPr bwMode="auto">
            <a:xfrm>
              <a:off x="3811037" y="5975069"/>
              <a:ext cx="108377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Script editor</a:t>
              </a:r>
            </a:p>
          </p:txBody>
        </p:sp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523" y="6240627"/>
              <a:ext cx="29051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9" name="Straight Arrow Connector 28"/>
            <p:cNvCxnSpPr/>
            <p:nvPr/>
          </p:nvCxnSpPr>
          <p:spPr>
            <a:xfrm flipV="1">
              <a:off x="2619375" y="4648201"/>
              <a:ext cx="2047875" cy="1245334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5330792" y="5698844"/>
              <a:ext cx="768416" cy="694183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899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6624" y="4125912"/>
            <a:ext cx="3635860" cy="1795462"/>
            <a:chOff x="226624" y="4125912"/>
            <a:chExt cx="3635860" cy="1795462"/>
          </a:xfrm>
        </p:grpSpPr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452" y="4125912"/>
              <a:ext cx="3114675" cy="134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5" name="Straight Arrow Connector 24"/>
            <p:cNvCxnSpPr/>
            <p:nvPr/>
          </p:nvCxnSpPr>
          <p:spPr>
            <a:xfrm flipV="1">
              <a:off x="770030" y="4787899"/>
              <a:ext cx="318398" cy="794470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770030" y="4955391"/>
              <a:ext cx="318398" cy="626978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762319" y="5119327"/>
              <a:ext cx="326109" cy="463042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770030" y="5278405"/>
              <a:ext cx="318398" cy="303964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AutoShape 32"/>
            <p:cNvSpPr>
              <a:spLocks noChangeArrowheads="1"/>
            </p:cNvSpPr>
            <p:nvPr/>
          </p:nvSpPr>
          <p:spPr bwMode="auto">
            <a:xfrm>
              <a:off x="226624" y="5582368"/>
              <a:ext cx="13811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Input parameters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2412884" y="5337159"/>
              <a:ext cx="0" cy="263555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utoShape 32"/>
            <p:cNvSpPr>
              <a:spLocks noChangeArrowheads="1"/>
            </p:cNvSpPr>
            <p:nvPr/>
          </p:nvSpPr>
          <p:spPr bwMode="auto">
            <a:xfrm>
              <a:off x="2344285" y="5541960"/>
              <a:ext cx="1518199" cy="379414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Right click to add/</a:t>
              </a:r>
            </a:p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delete parameters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72025" y="4160835"/>
            <a:ext cx="3562350" cy="1381125"/>
            <a:chOff x="4772025" y="4160835"/>
            <a:chExt cx="3562350" cy="1381125"/>
          </a:xfrm>
        </p:grpSpPr>
        <p:pic>
          <p:nvPicPr>
            <p:cNvPr id="4105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2025" y="4160835"/>
              <a:ext cx="3562350" cy="1381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3" name="Straight Arrow Connector 42"/>
            <p:cNvCxnSpPr/>
            <p:nvPr/>
          </p:nvCxnSpPr>
          <p:spPr>
            <a:xfrm flipV="1">
              <a:off x="5836231" y="4893004"/>
              <a:ext cx="0" cy="263555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5314950" y="4691837"/>
              <a:ext cx="209550" cy="427490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AutoShape 32"/>
            <p:cNvSpPr>
              <a:spLocks noChangeArrowheads="1"/>
            </p:cNvSpPr>
            <p:nvPr/>
          </p:nvSpPr>
          <p:spPr bwMode="auto">
            <a:xfrm>
              <a:off x="4935294" y="5091417"/>
              <a:ext cx="1178412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Local variables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 flipV="1">
              <a:off x="6229350" y="4921579"/>
              <a:ext cx="406981" cy="169839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utoShape 32"/>
            <p:cNvSpPr>
              <a:spLocks noChangeArrowheads="1"/>
            </p:cNvSpPr>
            <p:nvPr/>
          </p:nvSpPr>
          <p:spPr bwMode="auto">
            <a:xfrm>
              <a:off x="6610350" y="4995427"/>
              <a:ext cx="1518199" cy="379414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Right click to add/</a:t>
              </a:r>
            </a:p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delete parameters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02752" y="681350"/>
            <a:ext cx="5333479" cy="3043458"/>
            <a:chOff x="502752" y="681350"/>
            <a:chExt cx="5333479" cy="3043458"/>
          </a:xfrm>
        </p:grpSpPr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839" y="2208360"/>
              <a:ext cx="1381125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3440176" y="1861269"/>
              <a:ext cx="150598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Logical Data Model</a:t>
              </a:r>
            </a:p>
          </p:txBody>
        </p: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2202964" y="3459250"/>
              <a:ext cx="108377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Script editor</a:t>
              </a:r>
            </a:p>
          </p:txBody>
        </p:sp>
        <p:sp>
          <p:nvSpPr>
            <p:cNvPr id="8" name="AutoShape 32"/>
            <p:cNvSpPr>
              <a:spLocks noChangeArrowheads="1"/>
            </p:cNvSpPr>
            <p:nvPr/>
          </p:nvSpPr>
          <p:spPr bwMode="auto">
            <a:xfrm>
              <a:off x="916051" y="681350"/>
              <a:ext cx="1896513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Working Storage Variables</a:t>
              </a:r>
            </a:p>
          </p:txBody>
        </p:sp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52" y="946908"/>
              <a:ext cx="3400425" cy="83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0106" y="2185080"/>
              <a:ext cx="3286125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918" y="3235349"/>
              <a:ext cx="376237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" name="Straight Arrow Connector 14"/>
            <p:cNvCxnSpPr/>
            <p:nvPr/>
          </p:nvCxnSpPr>
          <p:spPr>
            <a:xfrm>
              <a:off x="2593485" y="1514177"/>
              <a:ext cx="346016" cy="694183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1024976" y="1507585"/>
              <a:ext cx="335285" cy="1144220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526258" y="2664991"/>
              <a:ext cx="1760481" cy="656083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Snagit_PPTCA79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54" r="49638"/>
            <a:stretch/>
          </p:blipFill>
          <p:spPr>
            <a:xfrm>
              <a:off x="2550105" y="2199850"/>
              <a:ext cx="3276020" cy="355985"/>
            </a:xfrm>
            <a:prstGeom prst="rect">
              <a:avLst/>
            </a:prstGeom>
          </p:spPr>
        </p:pic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517557" y="1846864"/>
              <a:ext cx="168540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Characteristic Chooser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386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7625" y="623199"/>
            <a:ext cx="4506362" cy="3565932"/>
            <a:chOff x="47625" y="623199"/>
            <a:chExt cx="4506362" cy="356593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5" y="626781"/>
              <a:ext cx="4419600" cy="356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3641662" y="623199"/>
              <a:ext cx="7599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Toolbar</a:t>
              </a:r>
            </a:p>
          </p:txBody>
        </p: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3641662" y="1254133"/>
              <a:ext cx="9123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Class Path</a:t>
              </a:r>
            </a:p>
          </p:txBody>
        </p:sp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3678725" y="2767466"/>
              <a:ext cx="7599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Tab area</a:t>
              </a:r>
            </a:p>
          </p:txBody>
        </p:sp>
      </p:grp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13" y="1962150"/>
            <a:ext cx="427672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32"/>
          <p:cNvSpPr>
            <a:spLocks noChangeArrowheads="1"/>
          </p:cNvSpPr>
          <p:nvPr/>
        </p:nvSpPr>
        <p:spPr bwMode="auto">
          <a:xfrm>
            <a:off x="7434687" y="3339822"/>
            <a:ext cx="759925" cy="265558"/>
          </a:xfrm>
          <a:prstGeom prst="flowChartAlternateProcess">
            <a:avLst/>
          </a:prstGeom>
          <a:solidFill>
            <a:srgbClr val="3D87AF"/>
          </a:solidFill>
          <a:ln w="9525">
            <a:solidFill>
              <a:srgbClr val="3D87A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100" dirty="0">
                <a:solidFill>
                  <a:srgbClr val="FFFFFF"/>
                </a:solidFill>
                <a:latin typeface="Roboto" pitchFamily="2" charset="0"/>
                <a:ea typeface="Roboto" pitchFamily="2" charset="0"/>
              </a:rPr>
              <a:t>Cells</a:t>
            </a: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479595" y="3197556"/>
            <a:ext cx="955092" cy="275045"/>
          </a:xfrm>
          <a:prstGeom prst="straightConnector1">
            <a:avLst/>
          </a:prstGeom>
          <a:ln w="22225">
            <a:solidFill>
              <a:srgbClr val="3D87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1"/>
          </p:cNvCxnSpPr>
          <p:nvPr/>
        </p:nvCxnSpPr>
        <p:spPr>
          <a:xfrm flipH="1">
            <a:off x="6479595" y="3472601"/>
            <a:ext cx="955092" cy="66391"/>
          </a:xfrm>
          <a:prstGeom prst="straightConnector1">
            <a:avLst/>
          </a:prstGeom>
          <a:ln w="22225">
            <a:solidFill>
              <a:srgbClr val="3D87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1"/>
          </p:cNvCxnSpPr>
          <p:nvPr/>
        </p:nvCxnSpPr>
        <p:spPr>
          <a:xfrm flipH="1">
            <a:off x="6886575" y="3472601"/>
            <a:ext cx="548112" cy="318349"/>
          </a:xfrm>
          <a:prstGeom prst="straightConnector1">
            <a:avLst/>
          </a:prstGeom>
          <a:ln w="22225">
            <a:solidFill>
              <a:srgbClr val="3D87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1"/>
          </p:cNvCxnSpPr>
          <p:nvPr/>
        </p:nvCxnSpPr>
        <p:spPr>
          <a:xfrm flipH="1" flipV="1">
            <a:off x="6829851" y="3112636"/>
            <a:ext cx="604836" cy="359965"/>
          </a:xfrm>
          <a:prstGeom prst="straightConnector1">
            <a:avLst/>
          </a:prstGeom>
          <a:ln w="22225">
            <a:solidFill>
              <a:srgbClr val="3D87A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01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09663" y="349985"/>
            <a:ext cx="7026244" cy="6115050"/>
            <a:chOff x="1109663" y="349985"/>
            <a:chExt cx="7026244" cy="611505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663" y="349985"/>
              <a:ext cx="6923087" cy="6115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6450500" y="750034"/>
              <a:ext cx="759925" cy="27866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Toolbar</a:t>
              </a:r>
            </a:p>
          </p:txBody>
        </p: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6450500" y="1943100"/>
              <a:ext cx="1083775" cy="281343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Script editor</a:t>
              </a:r>
            </a:p>
          </p:txBody>
        </p:sp>
        <p:sp>
          <p:nvSpPr>
            <p:cNvPr id="8" name="AutoShape 32"/>
            <p:cNvSpPr>
              <a:spLocks noChangeArrowheads="1"/>
            </p:cNvSpPr>
            <p:nvPr/>
          </p:nvSpPr>
          <p:spPr bwMode="auto">
            <a:xfrm>
              <a:off x="6450500" y="4551964"/>
              <a:ext cx="1685407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Characteristic Chooser</a:t>
              </a:r>
            </a:p>
          </p:txBody>
        </p:sp>
        <p:sp>
          <p:nvSpPr>
            <p:cNvPr id="9" name="AutoShape 32"/>
            <p:cNvSpPr>
              <a:spLocks noChangeArrowheads="1"/>
            </p:cNvSpPr>
            <p:nvPr/>
          </p:nvSpPr>
          <p:spPr bwMode="auto">
            <a:xfrm>
              <a:off x="6533278" y="5817335"/>
              <a:ext cx="75992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Tab area</a:t>
              </a:r>
            </a:p>
          </p:txBody>
        </p:sp>
        <p:pic>
          <p:nvPicPr>
            <p:cNvPr id="2" name="Snagit_PPTA6A5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28" r="4822"/>
            <a:stretch/>
          </p:blipFill>
          <p:spPr>
            <a:xfrm>
              <a:off x="1138239" y="364298"/>
              <a:ext cx="6400800" cy="37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9322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19100" y="714406"/>
            <a:ext cx="6324600" cy="5113337"/>
            <a:chOff x="419100" y="714406"/>
            <a:chExt cx="6324600" cy="5113337"/>
          </a:xfrm>
        </p:grpSpPr>
        <p:grpSp>
          <p:nvGrpSpPr>
            <p:cNvPr id="3" name="Group 2"/>
            <p:cNvGrpSpPr/>
            <p:nvPr/>
          </p:nvGrpSpPr>
          <p:grpSpPr>
            <a:xfrm>
              <a:off x="419100" y="714406"/>
              <a:ext cx="6324600" cy="5113337"/>
              <a:chOff x="419100" y="714406"/>
              <a:chExt cx="6324600" cy="5113337"/>
            </a:xfrm>
          </p:grpSpPr>
          <p:pic>
            <p:nvPicPr>
              <p:cNvPr id="7170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9100" y="714406"/>
                <a:ext cx="6324600" cy="5113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" name="Snagit_PPTFEFF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7" r="502" b="9833"/>
              <a:stretch/>
            </p:blipFill>
            <p:spPr>
              <a:xfrm>
                <a:off x="428026" y="718397"/>
                <a:ext cx="5421360" cy="288000"/>
              </a:xfrm>
              <a:prstGeom prst="rect">
                <a:avLst/>
              </a:prstGeom>
            </p:spPr>
          </p:pic>
          <p:pic>
            <p:nvPicPr>
              <p:cNvPr id="15" name="Snagit_PPTFEFF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518" t="-1" r="502" b="9833"/>
              <a:stretch/>
            </p:blipFill>
            <p:spPr>
              <a:xfrm>
                <a:off x="2562225" y="718397"/>
                <a:ext cx="3992012" cy="288000"/>
              </a:xfrm>
              <a:prstGeom prst="rect">
                <a:avLst/>
              </a:prstGeom>
            </p:spPr>
          </p:pic>
        </p:grpSp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1287951" y="2046889"/>
              <a:ext cx="1140924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Trace buttons</a:t>
              </a:r>
            </a:p>
          </p:txBody>
        </p:sp>
        <p:sp>
          <p:nvSpPr>
            <p:cNvPr id="7" name="AutoShape 32"/>
            <p:cNvSpPr>
              <a:spLocks noChangeArrowheads="1"/>
            </p:cNvSpPr>
            <p:nvPr/>
          </p:nvSpPr>
          <p:spPr bwMode="auto">
            <a:xfrm>
              <a:off x="5103749" y="3942364"/>
              <a:ext cx="1036151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Run history</a:t>
              </a:r>
            </a:p>
          </p:txBody>
        </p:sp>
        <p:sp>
          <p:nvSpPr>
            <p:cNvPr id="8" name="AutoShape 32"/>
            <p:cNvSpPr>
              <a:spLocks noChangeArrowheads="1"/>
            </p:cNvSpPr>
            <p:nvPr/>
          </p:nvSpPr>
          <p:spPr bwMode="auto">
            <a:xfrm>
              <a:off x="3711025" y="5075839"/>
              <a:ext cx="2428875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Results, Trace, Log and Profile tabs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2724150" y="979964"/>
              <a:ext cx="452862" cy="246723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AutoShape 32"/>
            <p:cNvSpPr>
              <a:spLocks noChangeArrowheads="1"/>
            </p:cNvSpPr>
            <p:nvPr/>
          </p:nvSpPr>
          <p:spPr bwMode="auto">
            <a:xfrm>
              <a:off x="2326175" y="714406"/>
              <a:ext cx="1436200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Tested component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5621825" y="2912985"/>
              <a:ext cx="452862" cy="246723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utoShape 32"/>
            <p:cNvSpPr>
              <a:spLocks noChangeArrowheads="1"/>
            </p:cNvSpPr>
            <p:nvPr/>
          </p:nvSpPr>
          <p:spPr bwMode="auto">
            <a:xfrm>
              <a:off x="5107475" y="2751739"/>
              <a:ext cx="1512399" cy="26555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Execute Test button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4825" y="2312447"/>
              <a:ext cx="647700" cy="287878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Arrow Connector 15"/>
            <p:cNvCxnSpPr>
              <a:stCxn id="5" idx="1"/>
            </p:cNvCxnSpPr>
            <p:nvPr/>
          </p:nvCxnSpPr>
          <p:spPr>
            <a:xfrm flipH="1">
              <a:off x="1038225" y="2179668"/>
              <a:ext cx="249726" cy="132779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1084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84912" y="182563"/>
            <a:ext cx="7967663" cy="6675437"/>
            <a:chOff x="184912" y="182563"/>
            <a:chExt cx="7967663" cy="6675437"/>
          </a:xfrm>
        </p:grpSpPr>
        <p:grpSp>
          <p:nvGrpSpPr>
            <p:cNvPr id="3" name="Group 2"/>
            <p:cNvGrpSpPr/>
            <p:nvPr/>
          </p:nvGrpSpPr>
          <p:grpSpPr>
            <a:xfrm>
              <a:off x="1276350" y="182563"/>
              <a:ext cx="6876225" cy="6675437"/>
              <a:chOff x="1276350" y="182563"/>
              <a:chExt cx="6876225" cy="6675437"/>
            </a:xfrm>
          </p:grpSpPr>
          <p:pic>
            <p:nvPicPr>
              <p:cNvPr id="8194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728"/>
              <a:stretch/>
            </p:blipFill>
            <p:spPr bwMode="auto">
              <a:xfrm>
                <a:off x="1276350" y="182563"/>
                <a:ext cx="6876225" cy="667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" name="Snagit_PPTCFB3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2" t="8383" r="403"/>
              <a:stretch/>
            </p:blipFill>
            <p:spPr>
              <a:xfrm>
                <a:off x="1459706" y="190499"/>
                <a:ext cx="6381750" cy="360000"/>
              </a:xfrm>
              <a:prstGeom prst="rect">
                <a:avLst/>
              </a:prstGeom>
            </p:spPr>
          </p:pic>
          <p:pic>
            <p:nvPicPr>
              <p:cNvPr id="28" name="Snagit_PPTCFB3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326" t="8383" r="402"/>
              <a:stretch/>
            </p:blipFill>
            <p:spPr>
              <a:xfrm>
                <a:off x="4481512" y="190499"/>
                <a:ext cx="3622093" cy="360000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>
              <a:off x="184912" y="513363"/>
              <a:ext cx="7939911" cy="5857875"/>
              <a:chOff x="184912" y="513363"/>
              <a:chExt cx="7939911" cy="5857875"/>
            </a:xfrm>
          </p:grpSpPr>
          <p:sp>
            <p:nvSpPr>
              <p:cNvPr id="4" name="AutoShape 32"/>
              <p:cNvSpPr>
                <a:spLocks noChangeArrowheads="1"/>
              </p:cNvSpPr>
              <p:nvPr/>
            </p:nvSpPr>
            <p:spPr bwMode="auto">
              <a:xfrm>
                <a:off x="3203924" y="4885339"/>
                <a:ext cx="1297051" cy="265558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Mapping buttons</a:t>
                </a:r>
              </a:p>
            </p:txBody>
          </p:sp>
          <p:sp>
            <p:nvSpPr>
              <p:cNvPr id="8" name="AutoShape 32"/>
              <p:cNvSpPr>
                <a:spLocks noChangeArrowheads="1"/>
              </p:cNvSpPr>
              <p:nvPr/>
            </p:nvSpPr>
            <p:spPr bwMode="auto">
              <a:xfrm>
                <a:off x="6400800" y="5970201"/>
                <a:ext cx="1144651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Mapped characteristics</a:t>
                </a:r>
              </a:p>
            </p:txBody>
          </p:sp>
          <p:sp>
            <p:nvSpPr>
              <p:cNvPr id="10" name="AutoShape 32"/>
              <p:cNvSpPr>
                <a:spLocks noChangeArrowheads="1"/>
              </p:cNvSpPr>
              <p:nvPr/>
            </p:nvSpPr>
            <p:spPr bwMode="auto">
              <a:xfrm>
                <a:off x="6400800" y="1235782"/>
                <a:ext cx="1724023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Physical characteristics name filter</a:t>
                </a:r>
              </a:p>
            </p:txBody>
          </p:sp>
          <p:sp>
            <p:nvSpPr>
              <p:cNvPr id="11" name="AutoShape 32"/>
              <p:cNvSpPr>
                <a:spLocks noChangeArrowheads="1"/>
              </p:cNvSpPr>
              <p:nvPr/>
            </p:nvSpPr>
            <p:spPr bwMode="auto">
              <a:xfrm>
                <a:off x="3852450" y="1074844"/>
                <a:ext cx="1724023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Logical characteristics name filter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514475" y="914400"/>
                <a:ext cx="2190750" cy="390525"/>
              </a:xfrm>
              <a:prstGeom prst="rect">
                <a:avLst/>
              </a:prstGeom>
              <a:noFill/>
              <a:ln>
                <a:solidFill>
                  <a:srgbClr val="3D87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" name="Straight Arrow Connector 13"/>
              <p:cNvCxnSpPr/>
              <p:nvPr/>
            </p:nvCxnSpPr>
            <p:spPr>
              <a:xfrm flipH="1">
                <a:off x="3478794" y="791038"/>
                <a:ext cx="452862" cy="246723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AutoShape 32"/>
              <p:cNvSpPr>
                <a:spLocks noChangeArrowheads="1"/>
              </p:cNvSpPr>
              <p:nvPr/>
            </p:nvSpPr>
            <p:spPr bwMode="auto">
              <a:xfrm>
                <a:off x="3809587" y="513363"/>
                <a:ext cx="1297051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Data source type and location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>
                <a:off x="3478794" y="1436300"/>
                <a:ext cx="452862" cy="514197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6174369" y="1576710"/>
                <a:ext cx="452862" cy="350791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AutoShape 32"/>
              <p:cNvSpPr>
                <a:spLocks noChangeArrowheads="1"/>
              </p:cNvSpPr>
              <p:nvPr/>
            </p:nvSpPr>
            <p:spPr bwMode="auto">
              <a:xfrm>
                <a:off x="6527736" y="3522745"/>
                <a:ext cx="1144651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Physical characteristics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286500" y="5343525"/>
                <a:ext cx="1676400" cy="323850"/>
              </a:xfrm>
              <a:prstGeom prst="rect">
                <a:avLst/>
              </a:prstGeom>
              <a:noFill/>
              <a:ln>
                <a:solidFill>
                  <a:srgbClr val="3D87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912731" y="4866289"/>
                <a:ext cx="838200" cy="323850"/>
              </a:xfrm>
              <a:prstGeom prst="rect">
                <a:avLst/>
              </a:prstGeom>
              <a:noFill/>
              <a:ln>
                <a:solidFill>
                  <a:srgbClr val="3D87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1514475" y="4885339"/>
                <a:ext cx="838200" cy="323850"/>
              </a:xfrm>
              <a:prstGeom prst="rect">
                <a:avLst/>
              </a:prstGeom>
              <a:noFill/>
              <a:ln>
                <a:solidFill>
                  <a:srgbClr val="3D87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" name="Straight Arrow Connector 21"/>
              <p:cNvCxnSpPr>
                <a:stCxn id="4" idx="1"/>
              </p:cNvCxnSpPr>
              <p:nvPr/>
            </p:nvCxnSpPr>
            <p:spPr>
              <a:xfrm flipH="1">
                <a:off x="2371312" y="5018118"/>
                <a:ext cx="832612" cy="17569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4067175" y="5150897"/>
                <a:ext cx="2219325" cy="354058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4500975" y="5035687"/>
                <a:ext cx="411756" cy="11577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1162050" y="1837337"/>
                <a:ext cx="438150" cy="113160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AutoShape 32"/>
              <p:cNvSpPr>
                <a:spLocks noChangeArrowheads="1"/>
              </p:cNvSpPr>
              <p:nvPr/>
            </p:nvSpPr>
            <p:spPr bwMode="auto">
              <a:xfrm>
                <a:off x="184912" y="1436300"/>
                <a:ext cx="1297051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Select Logical Data Sources</a:t>
                </a:r>
              </a:p>
            </p:txBody>
          </p:sp>
          <p:cxnSp>
            <p:nvCxnSpPr>
              <p:cNvPr id="33" name="Straight Arrow Connector 32"/>
              <p:cNvCxnSpPr>
                <a:stCxn id="7" idx="3"/>
              </p:cNvCxnSpPr>
              <p:nvPr/>
            </p:nvCxnSpPr>
            <p:spPr>
              <a:xfrm flipV="1">
                <a:off x="1481963" y="2012732"/>
                <a:ext cx="411343" cy="272775"/>
              </a:xfrm>
              <a:prstGeom prst="straightConnector1">
                <a:avLst/>
              </a:prstGeom>
              <a:ln w="22225">
                <a:solidFill>
                  <a:srgbClr val="3D87A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AutoShape 32"/>
              <p:cNvSpPr>
                <a:spLocks noChangeArrowheads="1"/>
              </p:cNvSpPr>
              <p:nvPr/>
            </p:nvSpPr>
            <p:spPr bwMode="auto">
              <a:xfrm>
                <a:off x="403987" y="2084988"/>
                <a:ext cx="1077976" cy="401037"/>
              </a:xfrm>
              <a:prstGeom prst="flowChartAlternateProcess">
                <a:avLst/>
              </a:prstGeom>
              <a:solidFill>
                <a:srgbClr val="3D87AF"/>
              </a:solidFill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altLang="en-US" sz="1100" dirty="0">
                    <a:solidFill>
                      <a:srgbClr val="FFFFFF"/>
                    </a:solidFill>
                    <a:latin typeface="Roboto" pitchFamily="2" charset="0"/>
                    <a:ea typeface="Roboto" pitchFamily="2" charset="0"/>
                  </a:rPr>
                  <a:t>Show table view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239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80287" y="457200"/>
            <a:ext cx="4801426" cy="2438400"/>
            <a:chOff x="1280287" y="457200"/>
            <a:chExt cx="4801426" cy="2438400"/>
          </a:xfrm>
        </p:grpSpPr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4588" y="457200"/>
              <a:ext cx="3667125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Arrow Connector 6"/>
            <p:cNvCxnSpPr/>
            <p:nvPr/>
          </p:nvCxnSpPr>
          <p:spPr>
            <a:xfrm flipV="1">
              <a:off x="2329688" y="809131"/>
              <a:ext cx="419100" cy="124319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AutoShape 32"/>
            <p:cNvSpPr>
              <a:spLocks noChangeArrowheads="1"/>
            </p:cNvSpPr>
            <p:nvPr/>
          </p:nvSpPr>
          <p:spPr bwMode="auto">
            <a:xfrm>
              <a:off x="1280287" y="741963"/>
              <a:ext cx="1077976" cy="4010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Show table view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681163" y="4362449"/>
            <a:ext cx="4948237" cy="2076451"/>
            <a:chOff x="1681163" y="4362449"/>
            <a:chExt cx="4948237" cy="2076451"/>
          </a:xfrm>
        </p:grpSpPr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1163" y="4362450"/>
              <a:ext cx="4886325" cy="2076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Straight Arrow Connector 11"/>
            <p:cNvCxnSpPr/>
            <p:nvPr/>
          </p:nvCxnSpPr>
          <p:spPr>
            <a:xfrm flipH="1">
              <a:off x="5196713" y="4524868"/>
              <a:ext cx="318262" cy="76200"/>
            </a:xfrm>
            <a:prstGeom prst="straightConnector1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32"/>
            <p:cNvSpPr>
              <a:spLocks noChangeArrowheads="1"/>
            </p:cNvSpPr>
            <p:nvPr/>
          </p:nvSpPr>
          <p:spPr bwMode="auto">
            <a:xfrm>
              <a:off x="5400675" y="4362449"/>
              <a:ext cx="1228725" cy="4010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Column display button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142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591553" y="774700"/>
            <a:ext cx="2752725" cy="1647825"/>
            <a:chOff x="591553" y="774700"/>
            <a:chExt cx="2752725" cy="1647825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53" y="774700"/>
              <a:ext cx="2752725" cy="164782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5" t="4847" r="92502" b="86963"/>
            <a:stretch/>
          </p:blipFill>
          <p:spPr>
            <a:xfrm>
              <a:off x="642041" y="841918"/>
              <a:ext cx="162709" cy="16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952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755232" y="1473994"/>
            <a:ext cx="1670208" cy="3518765"/>
            <a:chOff x="3755232" y="1473994"/>
            <a:chExt cx="1670208" cy="351876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2609" y="1865240"/>
              <a:ext cx="1438781" cy="3127519"/>
            </a:xfrm>
            <a:prstGeom prst="rect">
              <a:avLst/>
            </a:prstGeom>
          </p:spPr>
        </p:pic>
        <p:sp>
          <p:nvSpPr>
            <p:cNvPr id="26" name="AutoShape 32"/>
            <p:cNvSpPr>
              <a:spLocks noChangeArrowheads="1"/>
            </p:cNvSpPr>
            <p:nvPr/>
          </p:nvSpPr>
          <p:spPr bwMode="auto">
            <a:xfrm>
              <a:off x="3755232" y="1473994"/>
              <a:ext cx="621505" cy="31194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New button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 flipH="1">
              <a:off x="4065389" y="1785939"/>
              <a:ext cx="1191" cy="147636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AutoShape 32"/>
            <p:cNvSpPr>
              <a:spLocks noChangeArrowheads="1"/>
            </p:cNvSpPr>
            <p:nvPr/>
          </p:nvSpPr>
          <p:spPr bwMode="auto">
            <a:xfrm>
              <a:off x="4400037" y="2476501"/>
              <a:ext cx="1025403" cy="364332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New test case column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 bwMode="auto">
            <a:xfrm>
              <a:off x="4911507" y="2840832"/>
              <a:ext cx="2463" cy="147636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079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7" name="Group 9226"/>
          <p:cNvGrpSpPr/>
          <p:nvPr/>
        </p:nvGrpSpPr>
        <p:grpSpPr>
          <a:xfrm>
            <a:off x="1824037" y="1189672"/>
            <a:ext cx="5495925" cy="1933575"/>
            <a:chOff x="1824037" y="1189672"/>
            <a:chExt cx="5495925" cy="1933575"/>
          </a:xfrm>
        </p:grpSpPr>
        <p:pic>
          <p:nvPicPr>
            <p:cNvPr id="9218" name="Picture 92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4037" y="1189672"/>
              <a:ext cx="5495925" cy="1933575"/>
            </a:xfrm>
            <a:prstGeom prst="rect">
              <a:avLst/>
            </a:prstGeom>
          </p:spPr>
        </p:pic>
        <p:sp>
          <p:nvSpPr>
            <p:cNvPr id="9220" name="Rectangle 9219"/>
            <p:cNvSpPr/>
            <p:nvPr/>
          </p:nvSpPr>
          <p:spPr>
            <a:xfrm>
              <a:off x="2383631" y="1209674"/>
              <a:ext cx="573882" cy="240507"/>
            </a:xfrm>
            <a:prstGeom prst="rect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226" name="Group 9225"/>
          <p:cNvGrpSpPr/>
          <p:nvPr/>
        </p:nvGrpSpPr>
        <p:grpSpPr>
          <a:xfrm>
            <a:off x="1824037" y="3676650"/>
            <a:ext cx="5048250" cy="1409700"/>
            <a:chOff x="1824037" y="3676650"/>
            <a:chExt cx="5048250" cy="1409700"/>
          </a:xfrm>
        </p:grpSpPr>
        <p:pic>
          <p:nvPicPr>
            <p:cNvPr id="9223" name="Picture 92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4037" y="3676650"/>
              <a:ext cx="5048250" cy="1409700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1824037" y="3676650"/>
              <a:ext cx="596265" cy="254318"/>
            </a:xfrm>
            <a:prstGeom prst="rect">
              <a:avLst/>
            </a:prstGeom>
            <a:ln w="22225">
              <a:solidFill>
                <a:srgbClr val="3D87A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10284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181358"/>
            <a:ext cx="9141394" cy="6516688"/>
            <a:chOff x="0" y="181358"/>
            <a:chExt cx="9141394" cy="6516688"/>
          </a:xfrm>
        </p:grpSpPr>
        <p:pic>
          <p:nvPicPr>
            <p:cNvPr id="53" name="Snagit_PPTEEB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1" t="327"/>
            <a:stretch>
              <a:fillRect/>
            </a:stretch>
          </p:blipFill>
          <p:spPr bwMode="auto">
            <a:xfrm>
              <a:off x="19844" y="181358"/>
              <a:ext cx="9120187" cy="651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4" y="496139"/>
              <a:ext cx="7895238" cy="276190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 rotWithShape="1">
            <a:blip r:embed="rId4"/>
            <a:srcRect t="13175" r="8391"/>
            <a:stretch/>
          </p:blipFill>
          <p:spPr>
            <a:xfrm>
              <a:off x="26194" y="188231"/>
              <a:ext cx="9115200" cy="312841"/>
            </a:xfrm>
            <a:prstGeom prst="rect">
              <a:avLst/>
            </a:prstGeom>
          </p:spPr>
        </p:pic>
        <p:sp>
          <p:nvSpPr>
            <p:cNvPr id="55" name="AutoShape 32"/>
            <p:cNvSpPr>
              <a:spLocks noChangeArrowheads="1"/>
            </p:cNvSpPr>
            <p:nvPr/>
          </p:nvSpPr>
          <p:spPr bwMode="auto">
            <a:xfrm>
              <a:off x="5800725" y="2039938"/>
              <a:ext cx="835025" cy="3127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Input table</a:t>
              </a:r>
            </a:p>
          </p:txBody>
        </p:sp>
        <p:sp>
          <p:nvSpPr>
            <p:cNvPr id="56" name="AutoShape 32"/>
            <p:cNvSpPr>
              <a:spLocks noChangeArrowheads="1"/>
            </p:cNvSpPr>
            <p:nvPr/>
          </p:nvSpPr>
          <p:spPr bwMode="auto">
            <a:xfrm>
              <a:off x="5800725" y="4838700"/>
              <a:ext cx="835025" cy="4127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Results table</a:t>
              </a:r>
            </a:p>
          </p:txBody>
        </p:sp>
        <p:sp>
          <p:nvSpPr>
            <p:cNvPr id="57" name="AutoShape 32"/>
            <p:cNvSpPr>
              <a:spLocks noChangeArrowheads="1"/>
            </p:cNvSpPr>
            <p:nvPr/>
          </p:nvSpPr>
          <p:spPr bwMode="auto">
            <a:xfrm>
              <a:off x="7654925" y="3448051"/>
              <a:ext cx="1171575" cy="21590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Highlight buttons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423150" y="3825875"/>
              <a:ext cx="1635125" cy="209550"/>
            </a:xfrm>
            <a:prstGeom prst="rect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9" name="Straight Arrow Connector 58"/>
            <p:cNvCxnSpPr>
              <a:stCxn id="57" idx="2"/>
              <a:endCxn id="58" idx="0"/>
            </p:cNvCxnSpPr>
            <p:nvPr/>
          </p:nvCxnSpPr>
          <p:spPr bwMode="auto">
            <a:xfrm>
              <a:off x="8240713" y="3663951"/>
              <a:ext cx="0" cy="161924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84" name="AutoShape 32"/>
            <p:cNvSpPr>
              <a:spLocks noChangeArrowheads="1"/>
            </p:cNvSpPr>
            <p:nvPr/>
          </p:nvSpPr>
          <p:spPr bwMode="auto">
            <a:xfrm>
              <a:off x="415131" y="1203707"/>
              <a:ext cx="1087437" cy="38061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Table View/ Tree View tabs</a:t>
              </a:r>
            </a:p>
          </p:txBody>
        </p:sp>
        <p:cxnSp>
          <p:nvCxnSpPr>
            <p:cNvPr id="85" name="Straight Arrow Connector 84"/>
            <p:cNvCxnSpPr>
              <a:stCxn id="84" idx="0"/>
              <a:endCxn id="86" idx="2"/>
            </p:cNvCxnSpPr>
            <p:nvPr/>
          </p:nvCxnSpPr>
          <p:spPr bwMode="auto">
            <a:xfrm flipH="1" flipV="1">
              <a:off x="517922" y="943193"/>
              <a:ext cx="440928" cy="260514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86" name="Rectangle 85"/>
            <p:cNvSpPr/>
            <p:nvPr/>
          </p:nvSpPr>
          <p:spPr bwMode="auto">
            <a:xfrm>
              <a:off x="0" y="730793"/>
              <a:ext cx="1035844" cy="212400"/>
            </a:xfrm>
            <a:prstGeom prst="rect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2787649" y="3876675"/>
              <a:ext cx="1022350" cy="317500"/>
              <a:chOff x="2787649" y="984632"/>
              <a:chExt cx="1022350" cy="317500"/>
            </a:xfrm>
            <a:solidFill>
              <a:srgbClr val="3D87AF"/>
            </a:solidFill>
          </p:grpSpPr>
          <p:sp>
            <p:nvSpPr>
              <p:cNvPr id="91" name="AutoShape 32"/>
              <p:cNvSpPr>
                <a:spLocks noChangeArrowheads="1"/>
              </p:cNvSpPr>
              <p:nvPr/>
            </p:nvSpPr>
            <p:spPr bwMode="auto">
              <a:xfrm>
                <a:off x="3124199" y="984632"/>
                <a:ext cx="685800" cy="317500"/>
              </a:xfrm>
              <a:prstGeom prst="flowChartAlternateProcess">
                <a:avLst/>
              </a:prstGeom>
              <a:grpFill/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itchFamily="2" charset="0"/>
                    <a:ea typeface="Roboto" pitchFamily="2" charset="0"/>
                  </a:rPr>
                  <a:t>Filter box</a:t>
                </a:r>
              </a:p>
            </p:txBody>
          </p:sp>
          <p:cxnSp>
            <p:nvCxnSpPr>
              <p:cNvPr id="92" name="Straight Arrow Connector 91"/>
              <p:cNvCxnSpPr/>
              <p:nvPr/>
            </p:nvCxnSpPr>
            <p:spPr bwMode="auto">
              <a:xfrm flipH="1">
                <a:off x="2787649" y="1156082"/>
                <a:ext cx="336550" cy="95250"/>
              </a:xfrm>
              <a:prstGeom prst="straightConnector1">
                <a:avLst/>
              </a:prstGeom>
              <a:grpFill/>
              <a:ln w="25400" cap="flat" cmpd="sng" algn="ctr">
                <a:solidFill>
                  <a:srgbClr val="3D87AF"/>
                </a:solidFill>
                <a:prstDash val="solid"/>
                <a:headEnd type="none" w="med" len="med"/>
                <a:tailEnd type="stealth" w="med" len="med"/>
              </a:ln>
              <a:effectLst/>
            </p:spPr>
          </p:cxnSp>
        </p:grpSp>
        <p:grpSp>
          <p:nvGrpSpPr>
            <p:cNvPr id="95" name="Group 94"/>
            <p:cNvGrpSpPr/>
            <p:nvPr/>
          </p:nvGrpSpPr>
          <p:grpSpPr>
            <a:xfrm>
              <a:off x="2787649" y="953512"/>
              <a:ext cx="1022350" cy="317500"/>
              <a:chOff x="2787649" y="984632"/>
              <a:chExt cx="1022350" cy="317500"/>
            </a:xfrm>
            <a:solidFill>
              <a:srgbClr val="3D87AF"/>
            </a:solidFill>
          </p:grpSpPr>
          <p:sp>
            <p:nvSpPr>
              <p:cNvPr id="96" name="AutoShape 32"/>
              <p:cNvSpPr>
                <a:spLocks noChangeArrowheads="1"/>
              </p:cNvSpPr>
              <p:nvPr/>
            </p:nvSpPr>
            <p:spPr bwMode="auto">
              <a:xfrm>
                <a:off x="3124199" y="984632"/>
                <a:ext cx="685800" cy="317500"/>
              </a:xfrm>
              <a:prstGeom prst="flowChartAlternateProcess">
                <a:avLst/>
              </a:prstGeom>
              <a:grpFill/>
              <a:ln w="9525">
                <a:solidFill>
                  <a:srgbClr val="3D87AF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itchFamily="2" charset="0"/>
                    <a:ea typeface="Roboto" pitchFamily="2" charset="0"/>
                  </a:rPr>
                  <a:t>Filter box</a:t>
                </a:r>
              </a:p>
            </p:txBody>
          </p:sp>
          <p:cxnSp>
            <p:nvCxnSpPr>
              <p:cNvPr id="97" name="Straight Arrow Connector 96"/>
              <p:cNvCxnSpPr/>
              <p:nvPr/>
            </p:nvCxnSpPr>
            <p:spPr bwMode="auto">
              <a:xfrm flipH="1">
                <a:off x="2787649" y="1156082"/>
                <a:ext cx="336550" cy="95250"/>
              </a:xfrm>
              <a:prstGeom prst="straightConnector1">
                <a:avLst/>
              </a:prstGeom>
              <a:grpFill/>
              <a:ln w="25400" cap="flat" cmpd="sng" algn="ctr">
                <a:solidFill>
                  <a:srgbClr val="3D87AF"/>
                </a:solidFill>
                <a:prstDash val="solid"/>
                <a:headEnd type="none" w="med" len="med"/>
                <a:tailEnd type="stealth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038166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43125" y="925513"/>
            <a:ext cx="4857750" cy="4768850"/>
            <a:chOff x="2143125" y="925513"/>
            <a:chExt cx="4857750" cy="4768850"/>
          </a:xfrm>
        </p:grpSpPr>
        <p:pic>
          <p:nvPicPr>
            <p:cNvPr id="104" name="Picture 13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3125" y="1323975"/>
              <a:ext cx="4857750" cy="421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AutoShape 32"/>
            <p:cNvSpPr>
              <a:spLocks noChangeArrowheads="1"/>
            </p:cNvSpPr>
            <p:nvPr/>
          </p:nvSpPr>
          <p:spPr bwMode="auto">
            <a:xfrm>
              <a:off x="5153025" y="925513"/>
              <a:ext cx="1358900" cy="5413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Highlight option</a:t>
              </a:r>
            </a:p>
          </p:txBody>
        </p:sp>
        <p:cxnSp>
          <p:nvCxnSpPr>
            <p:cNvPr id="106" name="Straight Arrow Connector 105"/>
            <p:cNvCxnSpPr>
              <a:stCxn id="105" idx="2"/>
            </p:cNvCxnSpPr>
            <p:nvPr/>
          </p:nvCxnSpPr>
          <p:spPr bwMode="auto">
            <a:xfrm>
              <a:off x="5832475" y="1466850"/>
              <a:ext cx="4763" cy="27622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107" name="AutoShape 32"/>
            <p:cNvSpPr>
              <a:spLocks noChangeArrowheads="1"/>
            </p:cNvSpPr>
            <p:nvPr/>
          </p:nvSpPr>
          <p:spPr bwMode="auto">
            <a:xfrm>
              <a:off x="5153025" y="2954338"/>
              <a:ext cx="1358900" cy="5413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Tooltip displays highlight details</a:t>
              </a:r>
            </a:p>
          </p:txBody>
        </p:sp>
        <p:cxnSp>
          <p:nvCxnSpPr>
            <p:cNvPr id="108" name="Straight Arrow Connector 107"/>
            <p:cNvCxnSpPr>
              <a:stCxn id="107" idx="2"/>
            </p:cNvCxnSpPr>
            <p:nvPr/>
          </p:nvCxnSpPr>
          <p:spPr bwMode="auto">
            <a:xfrm>
              <a:off x="5832475" y="3495675"/>
              <a:ext cx="4763" cy="274638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109" name="AutoShape 32"/>
            <p:cNvSpPr>
              <a:spLocks noChangeArrowheads="1"/>
            </p:cNvSpPr>
            <p:nvPr/>
          </p:nvSpPr>
          <p:spPr bwMode="auto">
            <a:xfrm>
              <a:off x="3133725" y="5153025"/>
              <a:ext cx="1720850" cy="54133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Differences highlighted on grey background</a:t>
              </a:r>
            </a:p>
          </p:txBody>
        </p:sp>
        <p:cxnSp>
          <p:nvCxnSpPr>
            <p:cNvPr id="110" name="Straight Arrow Connector 109"/>
            <p:cNvCxnSpPr/>
            <p:nvPr/>
          </p:nvCxnSpPr>
          <p:spPr bwMode="auto">
            <a:xfrm flipV="1">
              <a:off x="3994150" y="4875213"/>
              <a:ext cx="0" cy="277812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4538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47775" y="1223963"/>
            <a:ext cx="6700838" cy="4572000"/>
            <a:chOff x="1247775" y="1223963"/>
            <a:chExt cx="6700838" cy="4572000"/>
          </a:xfrm>
        </p:grpSpPr>
        <p:pic>
          <p:nvPicPr>
            <p:cNvPr id="112" name="Picture 18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7775" y="1223963"/>
              <a:ext cx="6648450" cy="441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AutoShape 32"/>
            <p:cNvSpPr>
              <a:spLocks noChangeArrowheads="1"/>
            </p:cNvSpPr>
            <p:nvPr/>
          </p:nvSpPr>
          <p:spPr bwMode="auto">
            <a:xfrm>
              <a:off x="6242050" y="1427163"/>
              <a:ext cx="701675" cy="36988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Highlight buttons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775325" y="1958975"/>
              <a:ext cx="1635125" cy="209550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115" name="Straight Arrow Connector 114"/>
            <p:cNvCxnSpPr/>
            <p:nvPr/>
          </p:nvCxnSpPr>
          <p:spPr bwMode="auto">
            <a:xfrm>
              <a:off x="6592888" y="1797050"/>
              <a:ext cx="0" cy="161925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AutoShape 32"/>
            <p:cNvSpPr>
              <a:spLocks noChangeArrowheads="1"/>
            </p:cNvSpPr>
            <p:nvPr/>
          </p:nvSpPr>
          <p:spPr bwMode="auto">
            <a:xfrm>
              <a:off x="7199313" y="1292225"/>
              <a:ext cx="749300" cy="50482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Specify expected results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7461250" y="1958975"/>
              <a:ext cx="225425" cy="209550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118" name="Straight Arrow Connector 117"/>
            <p:cNvCxnSpPr/>
            <p:nvPr/>
          </p:nvCxnSpPr>
          <p:spPr bwMode="auto">
            <a:xfrm>
              <a:off x="7573963" y="1797050"/>
              <a:ext cx="0" cy="161925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AutoShape 32"/>
            <p:cNvSpPr>
              <a:spLocks noChangeArrowheads="1"/>
            </p:cNvSpPr>
            <p:nvPr/>
          </p:nvSpPr>
          <p:spPr bwMode="auto">
            <a:xfrm>
              <a:off x="6821488" y="5291138"/>
              <a:ext cx="860425" cy="50482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Results for test case 2</a:t>
              </a:r>
            </a:p>
          </p:txBody>
        </p:sp>
        <p:cxnSp>
          <p:nvCxnSpPr>
            <p:cNvPr id="120" name="Straight Arrow Connector 119"/>
            <p:cNvCxnSpPr/>
            <p:nvPr/>
          </p:nvCxnSpPr>
          <p:spPr bwMode="auto">
            <a:xfrm flipV="1">
              <a:off x="7251700" y="5013325"/>
              <a:ext cx="1588" cy="277813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AutoShape 32"/>
            <p:cNvSpPr>
              <a:spLocks noChangeArrowheads="1"/>
            </p:cNvSpPr>
            <p:nvPr/>
          </p:nvSpPr>
          <p:spPr bwMode="auto">
            <a:xfrm>
              <a:off x="5903913" y="5291138"/>
              <a:ext cx="860425" cy="50482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eaLnBrk="1" hangingPunct="1">
                <a:defRPr/>
              </a:pPr>
              <a:r>
                <a:rPr lang="en-US" altLang="en-US" sz="11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Results for test case 1</a:t>
              </a:r>
            </a:p>
          </p:txBody>
        </p:sp>
        <p:cxnSp>
          <p:nvCxnSpPr>
            <p:cNvPr id="122" name="Straight Arrow Connector 121"/>
            <p:cNvCxnSpPr/>
            <p:nvPr/>
          </p:nvCxnSpPr>
          <p:spPr bwMode="auto">
            <a:xfrm flipV="1">
              <a:off x="6334125" y="5013325"/>
              <a:ext cx="1588" cy="277813"/>
            </a:xfrm>
            <a:prstGeom prst="straightConnector1">
              <a:avLst/>
            </a:prstGeom>
            <a:ln w="25400">
              <a:solidFill>
                <a:srgbClr val="3D87AF"/>
              </a:solidFill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710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588660" y="393384"/>
            <a:ext cx="10197797" cy="5039834"/>
            <a:chOff x="-588660" y="393384"/>
            <a:chExt cx="10197797" cy="5039834"/>
          </a:xfrm>
        </p:grpSpPr>
        <p:pic>
          <p:nvPicPr>
            <p:cNvPr id="156" name="Snagit_PPT59C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1"/>
            <a:stretch>
              <a:fillRect/>
            </a:stretch>
          </p:blipFill>
          <p:spPr bwMode="auto">
            <a:xfrm>
              <a:off x="-588660" y="394859"/>
              <a:ext cx="10197797" cy="5038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r="1034"/>
            <a:stretch/>
          </p:blipFill>
          <p:spPr>
            <a:xfrm>
              <a:off x="-581517" y="393384"/>
              <a:ext cx="10188725" cy="380952"/>
            </a:xfrm>
            <a:prstGeom prst="rect">
              <a:avLst/>
            </a:prstGeom>
          </p:spPr>
        </p:pic>
        <p:sp>
          <p:nvSpPr>
            <p:cNvPr id="162" name="AutoShape 32"/>
            <p:cNvSpPr>
              <a:spLocks noChangeArrowheads="1"/>
            </p:cNvSpPr>
            <p:nvPr/>
          </p:nvSpPr>
          <p:spPr bwMode="auto">
            <a:xfrm>
              <a:off x="4043363" y="1851024"/>
              <a:ext cx="841375" cy="22383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Filter boxes</a:t>
              </a:r>
            </a:p>
          </p:txBody>
        </p:sp>
        <p:cxnSp>
          <p:nvCxnSpPr>
            <p:cNvPr id="163" name="Straight Arrow Connector 162"/>
            <p:cNvCxnSpPr>
              <a:stCxn id="162" idx="0"/>
            </p:cNvCxnSpPr>
            <p:nvPr/>
          </p:nvCxnSpPr>
          <p:spPr bwMode="auto">
            <a:xfrm flipH="1" flipV="1">
              <a:off x="3051175" y="1670049"/>
              <a:ext cx="1412875" cy="1809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cxnSp>
          <p:nvCxnSpPr>
            <p:cNvPr id="164" name="Straight Arrow Connector 163"/>
            <p:cNvCxnSpPr>
              <a:stCxn id="162" idx="0"/>
            </p:cNvCxnSpPr>
            <p:nvPr/>
          </p:nvCxnSpPr>
          <p:spPr bwMode="auto">
            <a:xfrm flipV="1">
              <a:off x="4464050" y="1670050"/>
              <a:ext cx="1216025" cy="1809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37" name="AutoShape 32"/>
            <p:cNvSpPr>
              <a:spLocks noChangeArrowheads="1"/>
            </p:cNvSpPr>
            <p:nvPr/>
          </p:nvSpPr>
          <p:spPr bwMode="auto">
            <a:xfrm>
              <a:off x="-257175" y="1546606"/>
              <a:ext cx="1087437" cy="38061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Table View/ Tree View tabs</a:t>
              </a:r>
            </a:p>
          </p:txBody>
        </p:sp>
        <p:cxnSp>
          <p:nvCxnSpPr>
            <p:cNvPr id="38" name="Straight Arrow Connector 37"/>
            <p:cNvCxnSpPr>
              <a:stCxn id="37" idx="0"/>
              <a:endCxn id="39" idx="2"/>
            </p:cNvCxnSpPr>
            <p:nvPr/>
          </p:nvCxnSpPr>
          <p:spPr bwMode="auto">
            <a:xfrm flipH="1" flipV="1">
              <a:off x="30162" y="1252754"/>
              <a:ext cx="256382" cy="293852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39" name="Rectangle 38"/>
            <p:cNvSpPr/>
            <p:nvPr/>
          </p:nvSpPr>
          <p:spPr bwMode="auto">
            <a:xfrm>
              <a:off x="-546101" y="1006475"/>
              <a:ext cx="1152525" cy="246279"/>
            </a:xfrm>
            <a:prstGeom prst="rect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4"/>
            <a:srcRect l="295" t="10914" r="22132" b="8614"/>
            <a:stretch/>
          </p:blipFill>
          <p:spPr>
            <a:xfrm>
              <a:off x="-560387" y="785869"/>
              <a:ext cx="6124575" cy="222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9757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62050" y="587375"/>
            <a:ext cx="4446311" cy="3775074"/>
            <a:chOff x="1162050" y="587375"/>
            <a:chExt cx="4446311" cy="3775074"/>
          </a:xfrm>
        </p:grpSpPr>
        <p:pic>
          <p:nvPicPr>
            <p:cNvPr id="190" name="Picture 12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6" t="12314" r="53178" b="31853"/>
            <a:stretch/>
          </p:blipFill>
          <p:spPr bwMode="auto">
            <a:xfrm>
              <a:off x="1162050" y="1490662"/>
              <a:ext cx="4219575" cy="2871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4"/>
            <a:srcRect l="769" t="52821" r="1018" b="3766"/>
            <a:stretch/>
          </p:blipFill>
          <p:spPr>
            <a:xfrm>
              <a:off x="1162050" y="1285089"/>
              <a:ext cx="4219200" cy="17729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l="769" t="-3968" r="1018" b="49353"/>
            <a:stretch/>
          </p:blipFill>
          <p:spPr>
            <a:xfrm>
              <a:off x="1162050" y="1013222"/>
              <a:ext cx="4136749" cy="218678"/>
            </a:xfrm>
            <a:prstGeom prst="rect">
              <a:avLst/>
            </a:prstGeom>
          </p:spPr>
        </p:pic>
        <p:sp>
          <p:nvSpPr>
            <p:cNvPr id="191" name="AutoShape 32"/>
            <p:cNvSpPr>
              <a:spLocks noChangeArrowheads="1"/>
            </p:cNvSpPr>
            <p:nvPr/>
          </p:nvSpPr>
          <p:spPr bwMode="auto">
            <a:xfrm>
              <a:off x="4989236" y="587375"/>
              <a:ext cx="619125" cy="5397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10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Column display button</a:t>
              </a:r>
            </a:p>
          </p:txBody>
        </p:sp>
        <p:cxnSp>
          <p:nvCxnSpPr>
            <p:cNvPr id="192" name="Straight Arrow Connector 191"/>
            <p:cNvCxnSpPr>
              <a:stCxn id="191" idx="2"/>
            </p:cNvCxnSpPr>
            <p:nvPr/>
          </p:nvCxnSpPr>
          <p:spPr bwMode="auto">
            <a:xfrm>
              <a:off x="5298799" y="1127125"/>
              <a:ext cx="0" cy="368300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10989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Snagit_PPT59C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57" t="7840" r="49442" b="88618"/>
          <a:stretch>
            <a:fillRect/>
          </a:stretch>
        </p:blipFill>
        <p:spPr bwMode="auto">
          <a:xfrm>
            <a:off x="6376988" y="2266950"/>
            <a:ext cx="2349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" name="Snagit_PPT59C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1" t="7651" r="56068" b="87811"/>
          <a:stretch>
            <a:fillRect/>
          </a:stretch>
        </p:blipFill>
        <p:spPr bwMode="auto">
          <a:xfrm>
            <a:off x="3910013" y="1766888"/>
            <a:ext cx="20240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95" t="10914" r="22132" b="8614"/>
          <a:stretch/>
        </p:blipFill>
        <p:spPr>
          <a:xfrm>
            <a:off x="647699" y="3321051"/>
            <a:ext cx="6124575" cy="222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0956" t="18960" r="76601" b="30458"/>
          <a:stretch/>
        </p:blipFill>
        <p:spPr>
          <a:xfrm>
            <a:off x="2278857" y="4219575"/>
            <a:ext cx="192882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45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024063" y="1609725"/>
            <a:ext cx="5095875" cy="3554413"/>
            <a:chOff x="2024063" y="1609725"/>
            <a:chExt cx="5095875" cy="3554413"/>
          </a:xfrm>
        </p:grpSpPr>
        <p:pic>
          <p:nvPicPr>
            <p:cNvPr id="203" name="Picture 25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4063" y="1876670"/>
              <a:ext cx="5095875" cy="3104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AutoShape 32"/>
            <p:cNvSpPr>
              <a:spLocks noChangeArrowheads="1"/>
            </p:cNvSpPr>
            <p:nvPr/>
          </p:nvSpPr>
          <p:spPr bwMode="auto">
            <a:xfrm>
              <a:off x="5867400" y="1609725"/>
              <a:ext cx="860425" cy="50482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Results for test case 2</a:t>
              </a:r>
            </a:p>
          </p:txBody>
        </p:sp>
        <p:cxnSp>
          <p:nvCxnSpPr>
            <p:cNvPr id="205" name="Straight Arrow Connector 204"/>
            <p:cNvCxnSpPr>
              <a:stCxn id="204" idx="2"/>
            </p:cNvCxnSpPr>
            <p:nvPr/>
          </p:nvCxnSpPr>
          <p:spPr bwMode="auto">
            <a:xfrm>
              <a:off x="6297613" y="2114550"/>
              <a:ext cx="519112" cy="277813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206" name="AutoShape 32"/>
            <p:cNvSpPr>
              <a:spLocks noChangeArrowheads="1"/>
            </p:cNvSpPr>
            <p:nvPr/>
          </p:nvSpPr>
          <p:spPr bwMode="auto">
            <a:xfrm>
              <a:off x="4541838" y="4659313"/>
              <a:ext cx="860425" cy="504825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Enter expected values</a:t>
              </a:r>
            </a:p>
          </p:txBody>
        </p:sp>
        <p:cxnSp>
          <p:nvCxnSpPr>
            <p:cNvPr id="207" name="Straight Arrow Connector 206"/>
            <p:cNvCxnSpPr>
              <a:stCxn id="206" idx="0"/>
            </p:cNvCxnSpPr>
            <p:nvPr/>
          </p:nvCxnSpPr>
          <p:spPr bwMode="auto">
            <a:xfrm flipV="1">
              <a:off x="4972050" y="4381500"/>
              <a:ext cx="603250" cy="277813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432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Snagit_PPT2C7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1404938"/>
            <a:ext cx="1723917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762" y="2419476"/>
            <a:ext cx="1590476" cy="2019048"/>
          </a:xfrm>
          <a:prstGeom prst="rect">
            <a:avLst/>
          </a:prstGeom>
        </p:spPr>
      </p:pic>
      <p:sp>
        <p:nvSpPr>
          <p:cNvPr id="210" name="Rectangle 209"/>
          <p:cNvSpPr/>
          <p:nvPr/>
        </p:nvSpPr>
        <p:spPr bwMode="auto">
          <a:xfrm>
            <a:off x="3944307" y="2508908"/>
            <a:ext cx="1422931" cy="1929616"/>
          </a:xfrm>
          <a:prstGeom prst="rect">
            <a:avLst/>
          </a:prstGeom>
          <a:noFill/>
          <a:ln>
            <a:solidFill>
              <a:srgbClr val="3D8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37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43429" y="709957"/>
            <a:ext cx="4940945" cy="5514286"/>
            <a:chOff x="143429" y="709957"/>
            <a:chExt cx="4940945" cy="5514286"/>
          </a:xfrm>
        </p:grpSpPr>
        <p:pic>
          <p:nvPicPr>
            <p:cNvPr id="6" name="Snagit_PPTF72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989"/>
            <a:stretch/>
          </p:blipFill>
          <p:spPr>
            <a:xfrm>
              <a:off x="143429" y="709957"/>
              <a:ext cx="4695271" cy="5514286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243293" y="5123514"/>
              <a:ext cx="4841081" cy="8905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2815" y="4468066"/>
              <a:ext cx="4429904" cy="1066800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4" t="70768" r="1491" b="779"/>
            <a:stretch/>
          </p:blipFill>
          <p:spPr>
            <a:xfrm>
              <a:off x="233767" y="4468066"/>
              <a:ext cx="4428000" cy="106680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4" t="16883" r="1491" b="64080"/>
            <a:stretch/>
          </p:blipFill>
          <p:spPr>
            <a:xfrm>
              <a:off x="243293" y="1221136"/>
              <a:ext cx="4428000" cy="71376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232815" y="1221136"/>
              <a:ext cx="4429904" cy="713760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59782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43429" y="709957"/>
            <a:ext cx="4940945" cy="5514286"/>
            <a:chOff x="143429" y="709957"/>
            <a:chExt cx="4940945" cy="5514286"/>
          </a:xfrm>
        </p:grpSpPr>
        <p:pic>
          <p:nvPicPr>
            <p:cNvPr id="6" name="Snagit_PPTF72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989"/>
            <a:stretch/>
          </p:blipFill>
          <p:spPr>
            <a:xfrm>
              <a:off x="143429" y="709957"/>
              <a:ext cx="4695271" cy="5514286"/>
            </a:xfrm>
            <a:prstGeom prst="rect">
              <a:avLst/>
            </a:prstGeom>
          </p:spPr>
        </p:pic>
        <p:grpSp>
          <p:nvGrpSpPr>
            <p:cNvPr id="23" name="Group 22"/>
            <p:cNvGrpSpPr/>
            <p:nvPr/>
          </p:nvGrpSpPr>
          <p:grpSpPr>
            <a:xfrm>
              <a:off x="232815" y="4468060"/>
              <a:ext cx="4851559" cy="1728182"/>
              <a:chOff x="232815" y="4468060"/>
              <a:chExt cx="4851559" cy="1728182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43293" y="5123514"/>
                <a:ext cx="4841081" cy="8905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32815" y="4468066"/>
                <a:ext cx="4396127" cy="1728176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69" t="65088" r="1126" b="936"/>
              <a:stretch/>
            </p:blipFill>
            <p:spPr>
              <a:xfrm>
                <a:off x="236942" y="4468060"/>
                <a:ext cx="4392000" cy="1728181"/>
              </a:xfrm>
              <a:prstGeom prst="rect">
                <a:avLst/>
              </a:prstGeom>
            </p:spPr>
          </p:pic>
        </p:grpSp>
        <p:grpSp>
          <p:nvGrpSpPr>
            <p:cNvPr id="22" name="Group 21"/>
            <p:cNvGrpSpPr/>
            <p:nvPr/>
          </p:nvGrpSpPr>
          <p:grpSpPr>
            <a:xfrm>
              <a:off x="232814" y="1190796"/>
              <a:ext cx="4408241" cy="1416373"/>
              <a:chOff x="232814" y="1190796"/>
              <a:chExt cx="4408241" cy="1416373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0" t="12297" r="1122" b="60215"/>
              <a:stretch/>
            </p:blipFill>
            <p:spPr>
              <a:xfrm>
                <a:off x="232814" y="1190796"/>
                <a:ext cx="4408241" cy="1398216"/>
              </a:xfrm>
              <a:prstGeom prst="rect">
                <a:avLst/>
              </a:prstGeom>
            </p:spPr>
          </p:pic>
          <p:sp>
            <p:nvSpPr>
              <p:cNvPr id="16" name="Rectangle 15"/>
              <p:cNvSpPr/>
              <p:nvPr/>
            </p:nvSpPr>
            <p:spPr>
              <a:xfrm>
                <a:off x="232815" y="1210888"/>
                <a:ext cx="4408240" cy="1396281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7747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62" y="1528957"/>
            <a:ext cx="4390476" cy="3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39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962150" y="2895600"/>
            <a:ext cx="5219700" cy="1066800"/>
            <a:chOff x="1962150" y="2895600"/>
            <a:chExt cx="5219700" cy="10668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2150" y="2895600"/>
              <a:ext cx="5219700" cy="106680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/>
            <a:srcRect r="8325"/>
            <a:stretch/>
          </p:blipFill>
          <p:spPr>
            <a:xfrm>
              <a:off x="1980563" y="2912516"/>
              <a:ext cx="5177475" cy="38095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l="70678"/>
            <a:stretch/>
          </p:blipFill>
          <p:spPr>
            <a:xfrm>
              <a:off x="3019425" y="2912516"/>
              <a:ext cx="2957513" cy="380952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0678"/>
          <a:stretch/>
        </p:blipFill>
        <p:spPr>
          <a:xfrm>
            <a:off x="3019425" y="1190396"/>
            <a:ext cx="2957513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9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43429" y="709957"/>
            <a:ext cx="4940945" cy="5514286"/>
            <a:chOff x="143429" y="709957"/>
            <a:chExt cx="4940945" cy="5514286"/>
          </a:xfrm>
        </p:grpSpPr>
        <p:pic>
          <p:nvPicPr>
            <p:cNvPr id="6" name="Snagit_PPTF72F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989"/>
            <a:stretch/>
          </p:blipFill>
          <p:spPr>
            <a:xfrm>
              <a:off x="143429" y="709957"/>
              <a:ext cx="4695271" cy="5514286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243293" y="5123514"/>
              <a:ext cx="4841081" cy="8905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2815" y="4468066"/>
              <a:ext cx="4429904" cy="1066800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4" t="70768" r="1491" b="779"/>
            <a:stretch/>
          </p:blipFill>
          <p:spPr>
            <a:xfrm>
              <a:off x="233767" y="4468066"/>
              <a:ext cx="4428000" cy="106680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4" t="16883" r="1491" b="64080"/>
            <a:stretch/>
          </p:blipFill>
          <p:spPr>
            <a:xfrm>
              <a:off x="243293" y="1221136"/>
              <a:ext cx="4428000" cy="71376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232815" y="1221136"/>
              <a:ext cx="4429904" cy="713760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94512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0678"/>
          <a:stretch/>
        </p:blipFill>
        <p:spPr>
          <a:xfrm>
            <a:off x="3019425" y="1190396"/>
            <a:ext cx="2957513" cy="380952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910095" y="1838524"/>
            <a:ext cx="5323809" cy="3180952"/>
            <a:chOff x="1910095" y="1838524"/>
            <a:chExt cx="5323809" cy="318095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0095" y="1838524"/>
              <a:ext cx="5323809" cy="318095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l="1200" t="4714" r="5886" b="4849"/>
            <a:stretch/>
          </p:blipFill>
          <p:spPr>
            <a:xfrm>
              <a:off x="1919290" y="1855987"/>
              <a:ext cx="5300660" cy="361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4704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2581275" cy="1647825"/>
            <a:chOff x="3281362" y="2605087"/>
            <a:chExt cx="2581275" cy="16478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1362" y="2605087"/>
              <a:ext cx="2581275" cy="1647825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8884" y="2667000"/>
              <a:ext cx="169200" cy="16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33" y="1062333"/>
            <a:ext cx="6840000" cy="40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61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86"/>
          <p:cNvGrpSpPr>
            <a:grpSpLocks/>
          </p:cNvGrpSpPr>
          <p:nvPr/>
        </p:nvGrpSpPr>
        <p:grpSpPr bwMode="auto">
          <a:xfrm>
            <a:off x="657225" y="139700"/>
            <a:ext cx="5934075" cy="1952625"/>
            <a:chOff x="3032125" y="1842044"/>
            <a:chExt cx="5934075" cy="1952625"/>
          </a:xfrm>
        </p:grpSpPr>
        <p:pic>
          <p:nvPicPr>
            <p:cNvPr id="13" name="Picture 28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2125" y="1842044"/>
              <a:ext cx="5934075" cy="1952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9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4487" y="1894432"/>
              <a:ext cx="180000" cy="1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846138" y="3846513"/>
            <a:ext cx="5934075" cy="2828925"/>
            <a:chOff x="846138" y="3846513"/>
            <a:chExt cx="5934075" cy="2828925"/>
          </a:xfrm>
        </p:grpSpPr>
        <p:pic>
          <p:nvPicPr>
            <p:cNvPr id="17" name="Picture 28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138" y="3846513"/>
              <a:ext cx="5934075" cy="282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9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00" y="3905250"/>
              <a:ext cx="1809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115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"/>
          <p:cNvGrpSpPr>
            <a:grpSpLocks/>
          </p:cNvGrpSpPr>
          <p:nvPr/>
        </p:nvGrpSpPr>
        <p:grpSpPr bwMode="auto">
          <a:xfrm>
            <a:off x="485775" y="617538"/>
            <a:ext cx="4446588" cy="2857500"/>
            <a:chOff x="485775" y="617538"/>
            <a:chExt cx="4446588" cy="2857500"/>
          </a:xfrm>
        </p:grpSpPr>
        <p:pic>
          <p:nvPicPr>
            <p:cNvPr id="20" name="Picture 28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75" y="617538"/>
              <a:ext cx="4446588" cy="285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" t="1553" r="97084" b="94974"/>
            <a:stretch>
              <a:fillRect/>
            </a:stretch>
          </p:blipFill>
          <p:spPr bwMode="auto">
            <a:xfrm>
              <a:off x="564355" y="694530"/>
              <a:ext cx="188119" cy="178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/>
          <p:nvPr/>
        </p:nvGrpSpPr>
        <p:grpSpPr>
          <a:xfrm>
            <a:off x="1268413" y="3751263"/>
            <a:ext cx="6048375" cy="2762250"/>
            <a:chOff x="5421313" y="982663"/>
            <a:chExt cx="6048375" cy="2762250"/>
          </a:xfrm>
        </p:grpSpPr>
        <p:pic>
          <p:nvPicPr>
            <p:cNvPr id="23" name="Picture 29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1313" y="982663"/>
              <a:ext cx="6048375" cy="2762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30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1794" y="1048854"/>
              <a:ext cx="179387" cy="179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0488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300"/>
          <p:cNvGrpSpPr>
            <a:grpSpLocks/>
          </p:cNvGrpSpPr>
          <p:nvPr/>
        </p:nvGrpSpPr>
        <p:grpSpPr bwMode="auto">
          <a:xfrm>
            <a:off x="0" y="-26583"/>
            <a:ext cx="3106738" cy="3540125"/>
            <a:chOff x="1848038" y="3696039"/>
            <a:chExt cx="3106057" cy="3540579"/>
          </a:xfrm>
        </p:grpSpPr>
        <p:pic>
          <p:nvPicPr>
            <p:cNvPr id="26" name="Picture 29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032" b="31165"/>
            <a:stretch>
              <a:fillRect/>
            </a:stretch>
          </p:blipFill>
          <p:spPr bwMode="auto">
            <a:xfrm>
              <a:off x="1848038" y="3696039"/>
              <a:ext cx="3106057" cy="3540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30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417" y="3744574"/>
              <a:ext cx="180000" cy="1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Group 27"/>
          <p:cNvGrpSpPr/>
          <p:nvPr/>
        </p:nvGrpSpPr>
        <p:grpSpPr>
          <a:xfrm>
            <a:off x="4781550" y="663575"/>
            <a:ext cx="3468688" cy="1431925"/>
            <a:chOff x="819150" y="3343275"/>
            <a:chExt cx="3468688" cy="1431925"/>
          </a:xfrm>
        </p:grpSpPr>
        <p:pic>
          <p:nvPicPr>
            <p:cNvPr id="29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150" y="3343275"/>
              <a:ext cx="3468688" cy="143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6" t="4848" r="92502" b="86963"/>
            <a:stretch>
              <a:fillRect/>
            </a:stretch>
          </p:blipFill>
          <p:spPr bwMode="auto">
            <a:xfrm>
              <a:off x="863600" y="3397250"/>
              <a:ext cx="136525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03" b="52046"/>
          <a:stretch>
            <a:fillRect/>
          </a:stretch>
        </p:blipFill>
        <p:spPr bwMode="auto">
          <a:xfrm>
            <a:off x="3797300" y="2813050"/>
            <a:ext cx="5065713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993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" b="-1"/>
          <a:stretch/>
        </p:blipFill>
        <p:spPr>
          <a:xfrm>
            <a:off x="0" y="0"/>
            <a:ext cx="2838095" cy="14881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86" y="55504"/>
            <a:ext cx="3462828" cy="14326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637" y="2039558"/>
            <a:ext cx="3468925" cy="1432684"/>
          </a:xfrm>
          <a:prstGeom prst="rect">
            <a:avLst/>
          </a:prstGeom>
        </p:spPr>
      </p:pic>
      <p:pic>
        <p:nvPicPr>
          <p:cNvPr id="12" name="Snagit_PPT23AD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" t="2190" b="-1"/>
          <a:stretch/>
        </p:blipFill>
        <p:spPr>
          <a:xfrm>
            <a:off x="1868804" y="3115945"/>
            <a:ext cx="2376337" cy="120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71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689225" y="733425"/>
            <a:ext cx="3779838" cy="5391150"/>
            <a:chOff x="2689225" y="733425"/>
            <a:chExt cx="3779838" cy="5391150"/>
          </a:xfrm>
        </p:grpSpPr>
        <p:pic>
          <p:nvPicPr>
            <p:cNvPr id="22" name="Picture 9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9225" y="733425"/>
              <a:ext cx="3779838" cy="539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AutoShape 32"/>
            <p:cNvSpPr>
              <a:spLocks noChangeArrowheads="1"/>
            </p:cNvSpPr>
            <p:nvPr/>
          </p:nvSpPr>
          <p:spPr bwMode="auto">
            <a:xfrm>
              <a:off x="4333875" y="1444625"/>
              <a:ext cx="949325" cy="2476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Customer 1</a:t>
              </a:r>
            </a:p>
          </p:txBody>
        </p:sp>
        <p:sp>
          <p:nvSpPr>
            <p:cNvPr id="24" name="AutoShape 32"/>
            <p:cNvSpPr>
              <a:spLocks noChangeArrowheads="1"/>
            </p:cNvSpPr>
            <p:nvPr/>
          </p:nvSpPr>
          <p:spPr bwMode="auto">
            <a:xfrm>
              <a:off x="4581525" y="1795463"/>
              <a:ext cx="949325" cy="2492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Account 1</a:t>
              </a:r>
            </a:p>
          </p:txBody>
        </p:sp>
        <p:cxnSp>
          <p:nvCxnSpPr>
            <p:cNvPr id="25" name="Straight Arrow Connector 24"/>
            <p:cNvCxnSpPr>
              <a:stCxn id="24" idx="1"/>
            </p:cNvCxnSpPr>
            <p:nvPr/>
          </p:nvCxnSpPr>
          <p:spPr bwMode="auto">
            <a:xfrm flipH="1">
              <a:off x="4360863" y="1920875"/>
              <a:ext cx="220662" cy="31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 flipH="1">
              <a:off x="4113213" y="1574800"/>
              <a:ext cx="220662" cy="4763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4625975" y="2317750"/>
              <a:ext cx="949325" cy="2476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Account 2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 flipH="1">
              <a:off x="4405313" y="2441575"/>
              <a:ext cx="220662" cy="31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29" name="AutoShape 32"/>
            <p:cNvSpPr>
              <a:spLocks noChangeArrowheads="1"/>
            </p:cNvSpPr>
            <p:nvPr/>
          </p:nvSpPr>
          <p:spPr bwMode="auto">
            <a:xfrm>
              <a:off x="4268788" y="3000375"/>
              <a:ext cx="947737" cy="24923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Customer 2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 bwMode="auto">
            <a:xfrm flipH="1">
              <a:off x="4046538" y="3124200"/>
              <a:ext cx="222250" cy="4763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31" name="AutoShape 32"/>
            <p:cNvSpPr>
              <a:spLocks noChangeArrowheads="1"/>
            </p:cNvSpPr>
            <p:nvPr/>
          </p:nvSpPr>
          <p:spPr bwMode="auto">
            <a:xfrm>
              <a:off x="4268788" y="4025900"/>
              <a:ext cx="947737" cy="2476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Customer 3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 bwMode="auto">
            <a:xfrm flipH="1">
              <a:off x="4046538" y="4149725"/>
              <a:ext cx="222250" cy="31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4268788" y="5059363"/>
              <a:ext cx="947737" cy="247650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Customer 4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 bwMode="auto">
            <a:xfrm flipH="1">
              <a:off x="4046538" y="5183188"/>
              <a:ext cx="222250" cy="3175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15254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/>
          <p:cNvGrpSpPr/>
          <p:nvPr/>
        </p:nvGrpSpPr>
        <p:grpSpPr>
          <a:xfrm>
            <a:off x="0" y="1171575"/>
            <a:ext cx="9144000" cy="4514850"/>
            <a:chOff x="0" y="1171575"/>
            <a:chExt cx="9144000" cy="4514850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71575"/>
              <a:ext cx="9144000" cy="4514850"/>
            </a:xfrm>
            <a:prstGeom prst="rect">
              <a:avLst/>
            </a:prstGeom>
          </p:spPr>
        </p:pic>
        <p:sp>
          <p:nvSpPr>
            <p:cNvPr id="37" name="AutoShape 32"/>
            <p:cNvSpPr>
              <a:spLocks noChangeArrowheads="1"/>
            </p:cNvSpPr>
            <p:nvPr/>
          </p:nvSpPr>
          <p:spPr bwMode="auto">
            <a:xfrm>
              <a:off x="826492" y="2012182"/>
              <a:ext cx="1247118" cy="44723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Table</a:t>
              </a:r>
              <a:r>
                <a:rPr kumimoji="0" lang="en-US" altLang="en-US" sz="1100" b="0" i="0" u="none" strike="noStrike" kern="0" cap="none" spc="0" normalizeH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 view/Tree view tabs</a:t>
              </a: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975" y="1727200"/>
              <a:ext cx="1012825" cy="187325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AutoShape 32"/>
            <p:cNvSpPr>
              <a:spLocks noChangeArrowheads="1"/>
            </p:cNvSpPr>
            <p:nvPr/>
          </p:nvSpPr>
          <p:spPr bwMode="auto">
            <a:xfrm>
              <a:off x="4015740" y="2459419"/>
              <a:ext cx="998220" cy="296678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Filter Boxes</a:t>
              </a:r>
            </a:p>
          </p:txBody>
        </p:sp>
        <p:cxnSp>
          <p:nvCxnSpPr>
            <p:cNvPr id="40" name="Straight Arrow Connector 39"/>
            <p:cNvCxnSpPr>
              <a:stCxn id="39" idx="3"/>
            </p:cNvCxnSpPr>
            <p:nvPr/>
          </p:nvCxnSpPr>
          <p:spPr bwMode="auto">
            <a:xfrm flipV="1">
              <a:off x="5013960" y="2329946"/>
              <a:ext cx="603250" cy="277812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cxnSp>
          <p:nvCxnSpPr>
            <p:cNvPr id="41" name="Straight Arrow Connector 40"/>
            <p:cNvCxnSpPr>
              <a:stCxn id="39" idx="1"/>
            </p:cNvCxnSpPr>
            <p:nvPr/>
          </p:nvCxnSpPr>
          <p:spPr bwMode="auto">
            <a:xfrm flipH="1" flipV="1">
              <a:off x="3413350" y="2346616"/>
              <a:ext cx="602390" cy="261142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cxnSp>
          <p:nvCxnSpPr>
            <p:cNvPr id="44" name="Straight Arrow Connector 43"/>
            <p:cNvCxnSpPr>
              <a:stCxn id="37" idx="1"/>
              <a:endCxn id="38" idx="2"/>
            </p:cNvCxnSpPr>
            <p:nvPr/>
          </p:nvCxnSpPr>
          <p:spPr bwMode="auto">
            <a:xfrm flipH="1" flipV="1">
              <a:off x="560388" y="1914525"/>
              <a:ext cx="266104" cy="321276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91619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1408421" y="870503"/>
            <a:ext cx="6327157" cy="5116993"/>
            <a:chOff x="1408421" y="870503"/>
            <a:chExt cx="6327157" cy="5116993"/>
          </a:xfrm>
        </p:grpSpPr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8421" y="870503"/>
              <a:ext cx="6327157" cy="5116993"/>
            </a:xfrm>
            <a:prstGeom prst="rect">
              <a:avLst/>
            </a:prstGeom>
          </p:spPr>
        </p:pic>
        <p:sp>
          <p:nvSpPr>
            <p:cNvPr id="37" name="AutoShape 32"/>
            <p:cNvSpPr>
              <a:spLocks noChangeArrowheads="1"/>
            </p:cNvSpPr>
            <p:nvPr/>
          </p:nvSpPr>
          <p:spPr bwMode="auto">
            <a:xfrm>
              <a:off x="3267732" y="870503"/>
              <a:ext cx="1456668" cy="27884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100" kern="0" dirty="0">
                  <a:solidFill>
                    <a:srgbClr val="FFFFFF"/>
                  </a:solidFill>
                  <a:latin typeface="Roboto" pitchFamily="2" charset="0"/>
                  <a:ea typeface="Roboto" pitchFamily="2" charset="0"/>
                </a:rPr>
                <a:t>Tested component</a:t>
              </a: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" name="AutoShape 32"/>
            <p:cNvSpPr>
              <a:spLocks noChangeArrowheads="1"/>
            </p:cNvSpPr>
            <p:nvPr/>
          </p:nvSpPr>
          <p:spPr bwMode="auto">
            <a:xfrm>
              <a:off x="5888990" y="2776193"/>
              <a:ext cx="998220" cy="362147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Execute test button</a:t>
              </a:r>
            </a:p>
          </p:txBody>
        </p:sp>
        <p:cxnSp>
          <p:nvCxnSpPr>
            <p:cNvPr id="41" name="Straight Arrow Connector 40"/>
            <p:cNvCxnSpPr>
              <a:stCxn id="39" idx="2"/>
              <a:endCxn id="69" idx="0"/>
            </p:cNvCxnSpPr>
            <p:nvPr/>
          </p:nvCxnSpPr>
          <p:spPr bwMode="auto">
            <a:xfrm>
              <a:off x="6388100" y="3138340"/>
              <a:ext cx="169863" cy="178741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cxnSp>
          <p:nvCxnSpPr>
            <p:cNvPr id="44" name="Straight Arrow Connector 43"/>
            <p:cNvCxnSpPr/>
            <p:nvPr/>
          </p:nvCxnSpPr>
          <p:spPr bwMode="auto">
            <a:xfrm flipH="1">
              <a:off x="3575050" y="1149350"/>
              <a:ext cx="374650" cy="165100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59" name="AutoShape 32"/>
            <p:cNvSpPr>
              <a:spLocks noChangeArrowheads="1"/>
            </p:cNvSpPr>
            <p:nvPr/>
          </p:nvSpPr>
          <p:spPr bwMode="auto">
            <a:xfrm>
              <a:off x="5888990" y="4120055"/>
              <a:ext cx="998220" cy="239041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Run history</a:t>
              </a:r>
            </a:p>
          </p:txBody>
        </p:sp>
        <p:sp>
          <p:nvSpPr>
            <p:cNvPr id="60" name="AutoShape 32"/>
            <p:cNvSpPr>
              <a:spLocks noChangeArrowheads="1"/>
            </p:cNvSpPr>
            <p:nvPr/>
          </p:nvSpPr>
          <p:spPr bwMode="auto">
            <a:xfrm>
              <a:off x="5283200" y="5107301"/>
              <a:ext cx="1604010" cy="417199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Results,</a:t>
              </a:r>
              <a:r>
                <a:rPr kumimoji="0" lang="en-US" altLang="en-US" sz="1100" b="0" i="0" u="none" strike="noStrike" kern="0" cap="none" spc="0" normalizeH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 Trace, Log and Profile tabs</a:t>
              </a: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62" name="AutoShape 32"/>
            <p:cNvSpPr>
              <a:spLocks noChangeArrowheads="1"/>
            </p:cNvSpPr>
            <p:nvPr/>
          </p:nvSpPr>
          <p:spPr bwMode="auto">
            <a:xfrm>
              <a:off x="2517797" y="2301875"/>
              <a:ext cx="1111228" cy="257372"/>
            </a:xfrm>
            <a:prstGeom prst="flowChartAlternateProcess">
              <a:avLst/>
            </a:prstGeom>
            <a:solidFill>
              <a:srgbClr val="3D87AF"/>
            </a:solidFill>
            <a:ln w="9525">
              <a:solidFill>
                <a:srgbClr val="3D87A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itchFamily="2" charset="0"/>
                  <a:ea typeface="Roboto" pitchFamily="2" charset="0"/>
                </a:rPr>
                <a:t>Trace buttons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495425" y="2473325"/>
              <a:ext cx="619125" cy="282575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4" name="Straight Arrow Connector 63"/>
            <p:cNvCxnSpPr>
              <a:stCxn id="62" idx="1"/>
              <a:endCxn id="63" idx="3"/>
            </p:cNvCxnSpPr>
            <p:nvPr/>
          </p:nvCxnSpPr>
          <p:spPr bwMode="auto">
            <a:xfrm flipH="1">
              <a:off x="2114550" y="2430561"/>
              <a:ext cx="403247" cy="184052"/>
            </a:xfrm>
            <a:prstGeom prst="straightConnector1">
              <a:avLst/>
            </a:prstGeom>
            <a:noFill/>
            <a:ln w="25400" cap="flat" cmpd="sng" algn="ctr">
              <a:solidFill>
                <a:srgbClr val="3D87AF"/>
              </a:solidFill>
              <a:prstDash val="solid"/>
              <a:headEnd type="none" w="med" len="med"/>
              <a:tailEnd type="stealth" w="med" len="med"/>
            </a:ln>
            <a:effectLst/>
          </p:spPr>
        </p:cxnSp>
        <p:sp>
          <p:nvSpPr>
            <p:cNvPr id="69" name="Rectangle 68"/>
            <p:cNvSpPr/>
            <p:nvPr/>
          </p:nvSpPr>
          <p:spPr>
            <a:xfrm>
              <a:off x="6467475" y="3317081"/>
              <a:ext cx="180975" cy="166688"/>
            </a:xfrm>
            <a:prstGeom prst="rect">
              <a:avLst/>
            </a:prstGeom>
            <a:noFill/>
            <a:ln>
              <a:solidFill>
                <a:srgbClr val="3D87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0750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6934</TotalTime>
  <Words>232</Words>
  <Application>Microsoft Office PowerPoint</Application>
  <PresentationFormat>On-screen Show (4:3)</PresentationFormat>
  <Paragraphs>85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Experian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Bristow, Theresa</dc:creator>
  <cp:lastModifiedBy>Haessly, Katie</cp:lastModifiedBy>
  <cp:revision>70</cp:revision>
  <dcterms:created xsi:type="dcterms:W3CDTF">2016-10-06T15:13:38Z</dcterms:created>
  <dcterms:modified xsi:type="dcterms:W3CDTF">2017-11-01T09:04:59Z</dcterms:modified>
</cp:coreProperties>
</file>